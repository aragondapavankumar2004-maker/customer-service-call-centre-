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57377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                       </a:t>
            </a:r>
            <a:r>
              <a:rPr dirty="0"/>
              <a:t>Customer Service &amp; Call Center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63651" y="1645920"/>
            <a:ext cx="4634217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5F5F5"/>
                </a:solidFill>
              </a:defRPr>
            </a:pPr>
            <a:r>
              <a:rPr dirty="0"/>
              <a:t>Power BI Project</a:t>
            </a:r>
          </a:p>
          <a:p>
            <a:pPr algn="ctr">
              <a:defRPr sz="2000">
                <a:solidFill>
                  <a:srgbClr val="CDC3D7"/>
                </a:solidFill>
              </a:defRPr>
            </a:pPr>
            <a:r>
              <a:rPr dirty="0"/>
              <a:t>Tools Used: Power BI • Power Query • DAX</a:t>
            </a:r>
            <a:br>
              <a:rPr dirty="0"/>
            </a:br>
            <a:r>
              <a:rPr dirty="0"/>
              <a:t>Prepared by: </a:t>
            </a:r>
            <a:r>
              <a:rPr lang="en-IN" dirty="0" err="1"/>
              <a:t>Aragonda</a:t>
            </a:r>
            <a:r>
              <a:rPr lang="en-IN" dirty="0"/>
              <a:t> Pavankumar</a:t>
            </a:r>
          </a:p>
          <a:p>
            <a:pPr algn="ctr">
              <a:defRPr sz="2000">
                <a:solidFill>
                  <a:srgbClr val="CDC3D7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rPr dirty="0"/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rPr dirty="0"/>
              <a:t>Analyze customer service interactions and call center performance.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rPr dirty="0"/>
              <a:t>Understand customer satisfaction, sentiment, channels, contact reasons, and SLA performance.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rPr dirty="0"/>
              <a:t>Compare workload and CSAT across call centers.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rPr dirty="0"/>
              <a:t>Identify improvement opportunities and provide data-driven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7C1D31-C2FE-7B9B-6BA4-E4D317CA8F9C}"/>
              </a:ext>
            </a:extLst>
          </p:cNvPr>
          <p:cNvSpPr txBox="1"/>
          <p:nvPr/>
        </p:nvSpPr>
        <p:spPr>
          <a:xfrm>
            <a:off x="0" y="364601"/>
            <a:ext cx="4284418" cy="321736"/>
          </a:xfrm>
          <a:prstGeom prst="ellipse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600" b="1">
                <a:solidFill>
                  <a:srgbClr val="F5F5F5"/>
                </a:solidFill>
              </a:defRPr>
            </a:pPr>
            <a:r>
              <a:rPr 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38BE20-5BA6-842E-EE4C-54357F8DA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0" y="686336"/>
            <a:ext cx="10992465" cy="534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513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rPr dirty="0"/>
              <a:t>Dataset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286000" cy="1463040"/>
          </a:xfrm>
          <a:prstGeom prst="roundRect">
            <a:avLst/>
          </a:prstGeom>
          <a:solidFill>
            <a:srgbClr val="30193D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DC3D7"/>
                </a:solidFill>
              </a:defRPr>
            </a:pPr>
            <a:r>
              <a:rPr dirty="0"/>
              <a:t>TOTAL RECORDS</a:t>
            </a:r>
          </a:p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     32.94k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286000" cy="1463040"/>
          </a:xfrm>
          <a:prstGeom prst="roundRect">
            <a:avLst/>
          </a:prstGeom>
          <a:solidFill>
            <a:srgbClr val="30193D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DC3D7"/>
                </a:solidFill>
              </a:defRPr>
            </a:pPr>
            <a:r>
              <a:rPr dirty="0"/>
              <a:t>AVG CSAT</a:t>
            </a:r>
          </a:p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    </a:t>
            </a:r>
            <a:r>
              <a:rPr dirty="0"/>
              <a:t>2.0</a:t>
            </a:r>
            <a:r>
              <a:rPr lang="en-IN" dirty="0"/>
              <a:t>7</a:t>
            </a:r>
            <a:r>
              <a:rPr dirty="0"/>
              <a:t>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286000" cy="1463040"/>
          </a:xfrm>
          <a:prstGeom prst="roundRect">
            <a:avLst/>
          </a:prstGeom>
          <a:solidFill>
            <a:srgbClr val="30193D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DC3D7"/>
                </a:solidFill>
              </a:defRPr>
            </a:pPr>
            <a:r>
              <a:rPr dirty="0"/>
              <a:t>WITHIN SLA</a:t>
            </a:r>
          </a:p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       </a:t>
            </a:r>
            <a:r>
              <a:rPr dirty="0"/>
              <a:t>6</a:t>
            </a:r>
            <a:r>
              <a:rPr lang="en-IN" dirty="0"/>
              <a:t>2.61</a:t>
            </a:r>
            <a:r>
              <a:rPr dirty="0"/>
              <a:t>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371600"/>
            <a:ext cx="2286000" cy="1463040"/>
          </a:xfrm>
          <a:prstGeom prst="roundRect">
            <a:avLst/>
          </a:prstGeom>
          <a:solidFill>
            <a:srgbClr val="30193D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DC3D7"/>
                </a:solidFill>
              </a:defRPr>
            </a:pPr>
            <a:r>
              <a:rPr dirty="0"/>
              <a:t>NEGATIVE SENTIMENT</a:t>
            </a:r>
          </a:p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       </a:t>
            </a:r>
            <a:r>
              <a:rPr dirty="0"/>
              <a:t>5</a:t>
            </a:r>
            <a:r>
              <a:rPr lang="en-IN" dirty="0"/>
              <a:t>2</a:t>
            </a:r>
            <a:r>
              <a:rPr dirty="0"/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Key fields: Sentiment, CSAT Score, Call Timestamp, Reason, Channel, Response Time, Call Duration, Call Center, City, and State.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The dataset represents customer service interactions across multiple channels and call center 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Data Cleaning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Imported the CSV dataset into Power BI using Power Query.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Promoted headers and verified column data types.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Converted Call Timestamp to the correct Date/Time format.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Checked duplicate records and cleaned text values.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Created a separate Date column and renamed columns for readability.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t>Created DAX measures for the major KPIs.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KPI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371600"/>
            <a:ext cx="2103120" cy="1737360"/>
          </a:xfrm>
          <a:prstGeom prst="roundRect">
            <a:avLst/>
          </a:prstGeom>
          <a:solidFill>
            <a:srgbClr val="30193D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DC3D7"/>
                </a:solidFill>
              </a:defRPr>
            </a:pPr>
            <a:r>
              <a:rPr dirty="0"/>
              <a:t>TOTAL CALLS</a:t>
            </a:r>
          </a:p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    32.94k</a:t>
            </a:r>
            <a:endParaRPr dirty="0"/>
          </a:p>
          <a:p>
            <a:pPr>
              <a:defRPr sz="1000">
                <a:solidFill>
                  <a:srgbClr val="CDC3D7"/>
                </a:solidFill>
              </a:defRPr>
            </a:pPr>
            <a:r>
              <a:rPr lang="en-IN" dirty="0"/>
              <a:t>          </a:t>
            </a:r>
            <a:r>
              <a:rPr dirty="0"/>
              <a:t>Customer interactions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70632" y="1371600"/>
            <a:ext cx="2103120" cy="1737360"/>
          </a:xfrm>
          <a:prstGeom prst="roundRect">
            <a:avLst/>
          </a:prstGeom>
          <a:solidFill>
            <a:srgbClr val="30193D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DC3D7"/>
                </a:solidFill>
              </a:defRPr>
            </a:pPr>
            <a:r>
              <a:rPr dirty="0"/>
              <a:t>AVERAGE CSAT</a:t>
            </a:r>
          </a:p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  </a:t>
            </a:r>
            <a:r>
              <a:rPr dirty="0"/>
              <a:t>2.0</a:t>
            </a:r>
            <a:r>
              <a:rPr lang="en-IN" dirty="0"/>
              <a:t>7</a:t>
            </a:r>
            <a:r>
              <a:rPr dirty="0"/>
              <a:t> / 5</a:t>
            </a:r>
          </a:p>
          <a:p>
            <a:pPr>
              <a:defRPr sz="1000">
                <a:solidFill>
                  <a:srgbClr val="CDC3D7"/>
                </a:solidFill>
              </a:defRPr>
            </a:pPr>
            <a:r>
              <a:rPr lang="en-IN" dirty="0"/>
              <a:t>            </a:t>
            </a:r>
            <a:r>
              <a:rPr dirty="0"/>
              <a:t>Low satisfaction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9784" y="1371600"/>
            <a:ext cx="2103120" cy="1737360"/>
          </a:xfrm>
          <a:prstGeom prst="roundRect">
            <a:avLst/>
          </a:prstGeom>
          <a:solidFill>
            <a:srgbClr val="30193D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DC3D7"/>
                </a:solidFill>
              </a:defRPr>
            </a:pPr>
            <a:r>
              <a:rPr dirty="0"/>
              <a:t>AVG CALL DURATION</a:t>
            </a:r>
          </a:p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</a:t>
            </a:r>
            <a:r>
              <a:rPr dirty="0"/>
              <a:t>25.</a:t>
            </a:r>
            <a:r>
              <a:rPr lang="en-IN" dirty="0"/>
              <a:t>02</a:t>
            </a:r>
            <a:r>
              <a:rPr dirty="0"/>
              <a:t> min</a:t>
            </a:r>
          </a:p>
          <a:p>
            <a:pPr>
              <a:defRPr sz="1000">
                <a:solidFill>
                  <a:srgbClr val="CDC3D7"/>
                </a:solidFill>
              </a:defRPr>
            </a:pPr>
            <a:r>
              <a:rPr lang="en-IN" dirty="0"/>
              <a:t>     </a:t>
            </a:r>
            <a:r>
              <a:rPr dirty="0"/>
              <a:t>Average handling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8936" y="1371600"/>
            <a:ext cx="2103120" cy="1737360"/>
          </a:xfrm>
          <a:prstGeom prst="roundRect">
            <a:avLst/>
          </a:prstGeom>
          <a:solidFill>
            <a:srgbClr val="30193D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DC3D7"/>
                </a:solidFill>
              </a:defRPr>
            </a:pPr>
            <a:r>
              <a:rPr dirty="0"/>
              <a:t>WITHIN SLA</a:t>
            </a:r>
          </a:p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    </a:t>
            </a:r>
            <a:r>
              <a:rPr dirty="0"/>
              <a:t>6</a:t>
            </a:r>
            <a:r>
              <a:rPr lang="en-IN" dirty="0"/>
              <a:t>2.61%</a:t>
            </a:r>
            <a:endParaRPr dirty="0"/>
          </a:p>
          <a:p>
            <a:pPr>
              <a:defRPr sz="1000">
                <a:solidFill>
                  <a:srgbClr val="CDC3D7"/>
                </a:solidFill>
              </a:defRPr>
            </a:pPr>
            <a:r>
              <a:rPr lang="en-IN" dirty="0"/>
              <a:t>                   </a:t>
            </a:r>
            <a:r>
              <a:rPr dirty="0"/>
              <a:t>610 interactions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48088" y="1371600"/>
            <a:ext cx="2103120" cy="1737360"/>
          </a:xfrm>
          <a:prstGeom prst="roundRect">
            <a:avLst/>
          </a:prstGeom>
          <a:solidFill>
            <a:srgbClr val="30193D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DC3D7"/>
                </a:solidFill>
              </a:defRPr>
            </a:pPr>
            <a:r>
              <a:rPr dirty="0"/>
              <a:t>NEGATIVE SENTIMENT</a:t>
            </a:r>
          </a:p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      </a:t>
            </a:r>
            <a:r>
              <a:rPr dirty="0"/>
              <a:t>5</a:t>
            </a:r>
            <a:r>
              <a:rPr lang="en-IN" dirty="0"/>
              <a:t>2</a:t>
            </a:r>
            <a:r>
              <a:rPr dirty="0"/>
              <a:t>%</a:t>
            </a:r>
          </a:p>
          <a:p>
            <a:pPr>
              <a:defRPr sz="1000">
                <a:solidFill>
                  <a:srgbClr val="CDC3D7"/>
                </a:solidFill>
              </a:defRPr>
            </a:pPr>
            <a:r>
              <a:rPr lang="en-IN" dirty="0"/>
              <a:t>                </a:t>
            </a:r>
            <a:r>
              <a:rPr dirty="0"/>
              <a:t>539 interactions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rPr dirty="0"/>
              <a:t>Customer satisfaction is relatively low, while more than half of interactions have Negative or Very Negative sentiment.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rPr dirty="0"/>
              <a:t>39% of interactions are outside the Within SLA category.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Customer Sentiment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Negative: 351 calls (35.1%)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Very Negative: 188 calls (18.8%)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Neutral: 246 calls (24.6%)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Positive: 124 calls (12.4%)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Very Positive: 91 calls (9.1%)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52880"/>
            <a:ext cx="3982720" cy="1828800"/>
          </a:xfrm>
          <a:prstGeom prst="roundRect">
            <a:avLst/>
          </a:prstGeom>
          <a:solidFill>
            <a:srgbClr val="30193D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DC3D7"/>
                </a:solidFill>
              </a:defRPr>
            </a:pPr>
            <a:r>
              <a:rPr dirty="0"/>
              <a:t>KEY INSIGHT</a:t>
            </a:r>
          </a:p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                 51.87%</a:t>
            </a:r>
            <a:endParaRPr dirty="0"/>
          </a:p>
          <a:p>
            <a:pPr>
              <a:defRPr sz="1000">
                <a:solidFill>
                  <a:srgbClr val="CDC3D7"/>
                </a:solidFill>
              </a:defRPr>
            </a:pPr>
            <a:r>
              <a:rPr lang="en-IN" dirty="0"/>
              <a:t>                                           </a:t>
            </a:r>
            <a:r>
              <a:rPr dirty="0"/>
              <a:t>Negative + Very Negative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3840480"/>
            <a:ext cx="484632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rPr dirty="0"/>
              <a:t>More than half of customer interactions are associated with negative sentiment.</a:t>
            </a:r>
          </a:p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rPr dirty="0"/>
              <a:t>Only 21.5</a:t>
            </a:r>
            <a:r>
              <a:rPr lang="en-IN" dirty="0"/>
              <a:t>4</a:t>
            </a:r>
            <a:r>
              <a:rPr dirty="0"/>
              <a:t>% are Positive or Very Positive, highlighting a major customer experience challenge.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CD63DF-02ED-EA08-A003-DAEFCEA69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1" y="3840480"/>
            <a:ext cx="3706986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Channel &amp; Customer Reason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4747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Total Calls by Channel: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Call-Center: </a:t>
            </a:r>
            <a:r>
              <a:rPr lang="en-IN" dirty="0"/>
              <a:t>10.64k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Chatbot:8.2k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Email:7.47k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Web: </a:t>
            </a:r>
            <a:r>
              <a:rPr lang="en-IN" dirty="0"/>
              <a:t>6.58k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206240" y="1280160"/>
            <a:ext cx="347472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Total Calls by Reason</a:t>
            </a:r>
            <a:r>
              <a:rPr dirty="0"/>
              <a:t>: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Billing Question : 23462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Payments : 4749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Service Outage : 4730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863840" y="1111529"/>
            <a:ext cx="356616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Key Insight: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Billing Questions generate the highest customer contact volume.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Call-</a:t>
            </a:r>
            <a:r>
              <a:rPr lang="en-IN" dirty="0" err="1"/>
              <a:t>center</a:t>
            </a:r>
            <a:r>
              <a:rPr lang="en-IN" dirty="0"/>
              <a:t> </a:t>
            </a:r>
            <a:r>
              <a:rPr dirty="0"/>
              <a:t>delivers the highest satisfaction</a:t>
            </a:r>
            <a:r>
              <a:rPr lang="en-IN" dirty="0"/>
              <a:t> among three channels</a:t>
            </a:r>
            <a:r>
              <a:rPr dirty="0"/>
              <a:t>, while </a:t>
            </a:r>
            <a:r>
              <a:rPr lang="en-IN" dirty="0"/>
              <a:t>Chatbot,</a:t>
            </a:r>
            <a:r>
              <a:rPr dirty="0"/>
              <a:t>Web</a:t>
            </a:r>
            <a:r>
              <a:rPr lang="en-IN" dirty="0"/>
              <a:t> </a:t>
            </a:r>
            <a:r>
              <a:rPr dirty="0"/>
              <a:t>and </a:t>
            </a:r>
            <a:r>
              <a:rPr lang="en-IN" dirty="0"/>
              <a:t>Email</a:t>
            </a:r>
            <a:r>
              <a:rPr dirty="0"/>
              <a:t> need improvement.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CB725A-10A7-FDAC-6BE1-4ED02A8BD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339" y="3834175"/>
            <a:ext cx="3352798" cy="2330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94A556-1013-EAE8-60C6-722B0DC526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43" t="46439" r="52828" b="27825"/>
          <a:stretch>
            <a:fillRect/>
          </a:stretch>
        </p:blipFill>
        <p:spPr>
          <a:xfrm>
            <a:off x="548640" y="3834174"/>
            <a:ext cx="3738225" cy="23306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Call Center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75488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rPr dirty="0"/>
              <a:t>Total Calls: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rPr dirty="0"/>
              <a:t>Los Angeles: </a:t>
            </a:r>
            <a:r>
              <a:rPr lang="en-IN" dirty="0"/>
              <a:t>14k</a:t>
            </a:r>
            <a:endParaRPr dirty="0"/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rPr dirty="0"/>
              <a:t>Baltimore: </a:t>
            </a:r>
            <a:r>
              <a:rPr lang="en-IN" dirty="0"/>
              <a:t>11k</a:t>
            </a:r>
            <a:endParaRPr dirty="0"/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rPr dirty="0"/>
              <a:t>Chicago: </a:t>
            </a:r>
            <a:r>
              <a:rPr lang="en-IN" dirty="0"/>
              <a:t>5k</a:t>
            </a:r>
            <a:endParaRPr dirty="0"/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rPr dirty="0"/>
              <a:t>Denver: </a:t>
            </a:r>
            <a:r>
              <a:rPr lang="en-IN" dirty="0"/>
              <a:t>3k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405895" y="1280160"/>
            <a:ext cx="47548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rPr dirty="0"/>
              <a:t>Average CSAT: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rPr dirty="0"/>
              <a:t>Denver: 2.1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rPr dirty="0"/>
              <a:t>Baltimore: 2.</a:t>
            </a:r>
            <a:r>
              <a:rPr lang="en-IN" dirty="0"/>
              <a:t>1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rPr lang="en-IN" dirty="0"/>
              <a:t>Los Angeles: 2.1</a:t>
            </a:r>
            <a:endParaRPr dirty="0"/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rPr dirty="0"/>
              <a:t>Chicago: </a:t>
            </a:r>
            <a:r>
              <a:rPr lang="en-IN" dirty="0"/>
              <a:t>2.0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5F5"/>
                </a:solidFill>
              </a:defRPr>
            </a:pPr>
            <a:r>
              <a:rPr dirty="0"/>
              <a:t> </a:t>
            </a:r>
            <a:r>
              <a:rPr lang="en-US" dirty="0">
                <a:solidFill>
                  <a:srgbClr val="F5F5F5"/>
                </a:solidFill>
              </a:rPr>
              <a:t>Los Angeles (14K) and Baltimore (11K) handle the bulk of total workload. Denver handles the lowest volume (3K)</a:t>
            </a:r>
            <a:r>
              <a:rPr lang="en-IN" dirty="0">
                <a:solidFill>
                  <a:srgbClr val="F5F5F5"/>
                </a:solidFill>
              </a:rPr>
              <a:t> , even though it shares the 2.1 CSAT score. </a:t>
            </a:r>
            <a:r>
              <a:rPr dirty="0"/>
              <a:t>and should be investigated for service quality and resolution issues.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174E6-397E-8AAE-4593-F75D4F5C0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615" y="1333679"/>
            <a:ext cx="6264385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Response Time &amp; Call Trend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108960" cy="1554480"/>
          </a:xfrm>
          <a:prstGeom prst="roundRect">
            <a:avLst/>
          </a:prstGeom>
          <a:solidFill>
            <a:srgbClr val="30193D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DC3D7"/>
                </a:solidFill>
              </a:defRPr>
            </a:pPr>
            <a:r>
              <a:rPr dirty="0"/>
              <a:t>WITHIN SLA</a:t>
            </a:r>
          </a:p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   20.63k</a:t>
            </a:r>
            <a:r>
              <a:rPr dirty="0"/>
              <a:t> (</a:t>
            </a:r>
            <a:r>
              <a:rPr lang="en-IN" dirty="0"/>
              <a:t>62.</a:t>
            </a:r>
            <a:r>
              <a:rPr dirty="0"/>
              <a:t>61%)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371600"/>
            <a:ext cx="3108960" cy="1554480"/>
          </a:xfrm>
          <a:prstGeom prst="roundRect">
            <a:avLst/>
          </a:prstGeom>
          <a:solidFill>
            <a:srgbClr val="30193D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DC3D7"/>
                </a:solidFill>
              </a:defRPr>
            </a:pPr>
            <a:r>
              <a:rPr dirty="0"/>
              <a:t>BELOW SLA</a:t>
            </a:r>
          </a:p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      8.15k</a:t>
            </a:r>
            <a:r>
              <a:rPr dirty="0"/>
              <a:t> (2</a:t>
            </a:r>
            <a:r>
              <a:rPr lang="en-IN" dirty="0"/>
              <a:t>4</a:t>
            </a:r>
            <a:r>
              <a:rPr dirty="0"/>
              <a:t>.</a:t>
            </a:r>
            <a:r>
              <a:rPr lang="en-IN" dirty="0"/>
              <a:t>74</a:t>
            </a:r>
            <a:r>
              <a:rPr dirty="0"/>
              <a:t>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3108960" cy="1554480"/>
          </a:xfrm>
          <a:prstGeom prst="roundRect">
            <a:avLst/>
          </a:prstGeom>
          <a:solidFill>
            <a:srgbClr val="30193D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DC3D7"/>
                </a:solidFill>
              </a:defRPr>
            </a:pPr>
            <a:r>
              <a:rPr dirty="0"/>
              <a:t>ABOVE SLA</a:t>
            </a:r>
          </a:p>
          <a:p>
            <a:pPr>
              <a:defRPr sz="2600" b="1">
                <a:solidFill>
                  <a:srgbClr val="F5F5F5"/>
                </a:solidFill>
              </a:defRPr>
            </a:pPr>
            <a:r>
              <a:rPr lang="en-IN" dirty="0"/>
              <a:t>       4.17k</a:t>
            </a:r>
            <a:r>
              <a:rPr dirty="0"/>
              <a:t>(12.</a:t>
            </a:r>
            <a:r>
              <a:rPr lang="en-IN" dirty="0"/>
              <a:t>65</a:t>
            </a:r>
            <a:r>
              <a:rPr dirty="0"/>
              <a:t>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1688" y="3667432"/>
            <a:ext cx="1031010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• 62.61</a:t>
            </a:r>
            <a:r>
              <a:rPr dirty="0"/>
              <a:t>% of interactions are outside the Within SLA category.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• </a:t>
            </a:r>
            <a:r>
              <a:rPr dirty="0"/>
              <a:t>Daily call volume fluctuates, with the highest visible volume around</a:t>
            </a:r>
            <a:r>
              <a:rPr lang="en-IN" dirty="0"/>
              <a:t> </a:t>
            </a:r>
            <a:r>
              <a:rPr dirty="0"/>
              <a:t>51 calls and the lowest around 20 calls.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lang="en-IN" dirty="0"/>
              <a:t>• </a:t>
            </a:r>
            <a:r>
              <a:rPr dirty="0"/>
              <a:t>These patterns can support workforce planning and staffing during high-demand periods.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592874-705D-DFD6-3390-3A9EE8F85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22" t="71661"/>
          <a:stretch>
            <a:fillRect/>
          </a:stretch>
        </p:blipFill>
        <p:spPr>
          <a:xfrm>
            <a:off x="1247378" y="4959635"/>
            <a:ext cx="9258726" cy="16240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Top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1. Overall Average CSAT is only 2.0</a:t>
            </a:r>
            <a:r>
              <a:rPr lang="en-IN" dirty="0"/>
              <a:t>7</a:t>
            </a:r>
            <a:r>
              <a:rPr dirty="0"/>
              <a:t> out of 5.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2. Negative and Very Negative interactions account for 5</a:t>
            </a:r>
            <a:r>
              <a:rPr lang="en-IN" dirty="0"/>
              <a:t>1</a:t>
            </a:r>
            <a:r>
              <a:rPr dirty="0"/>
              <a:t>.</a:t>
            </a:r>
            <a:r>
              <a:rPr lang="en-IN" dirty="0"/>
              <a:t>87</a:t>
            </a:r>
            <a:r>
              <a:rPr dirty="0"/>
              <a:t>% of all calls.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3. Billing Questions are the leading reason for customer contact.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4. </a:t>
            </a:r>
            <a:r>
              <a:rPr lang="en-IN" dirty="0"/>
              <a:t>Call-</a:t>
            </a:r>
            <a:r>
              <a:rPr lang="en-IN" dirty="0" err="1"/>
              <a:t>Center,chatbot,Email</a:t>
            </a:r>
            <a:r>
              <a:rPr lang="en-IN" dirty="0"/>
              <a:t> </a:t>
            </a:r>
            <a:r>
              <a:rPr dirty="0"/>
              <a:t>has the highest </a:t>
            </a:r>
            <a:r>
              <a:rPr lang="en-IN" dirty="0"/>
              <a:t>workload</a:t>
            </a:r>
            <a:r>
              <a:rPr dirty="0"/>
              <a:t>; Web have the lowest</a:t>
            </a:r>
            <a:r>
              <a:rPr lang="en-IN" dirty="0"/>
              <a:t> workload</a:t>
            </a:r>
            <a:r>
              <a:rPr dirty="0"/>
              <a:t> (</a:t>
            </a:r>
            <a:r>
              <a:rPr lang="en-IN" dirty="0"/>
              <a:t>2.0</a:t>
            </a:r>
            <a:r>
              <a:rPr dirty="0"/>
              <a:t>).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5. </a:t>
            </a:r>
            <a:r>
              <a:rPr lang="en-US" dirty="0">
                <a:solidFill>
                  <a:srgbClr val="F5F5F5"/>
                </a:solidFill>
              </a:rPr>
              <a:t>Los Angeles (14K) and Baltimore (11K) handle the bulk of total workload. Denver handles the lowest volume (3K)</a:t>
            </a:r>
            <a:r>
              <a:rPr lang="en-IN" dirty="0">
                <a:solidFill>
                  <a:srgbClr val="F5F5F5"/>
                </a:solidFill>
              </a:rPr>
              <a:t> , even though it shares the 2.1 CSAT score. 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6. Chicago has the lowest CSAT score (</a:t>
            </a:r>
            <a:r>
              <a:rPr lang="en-IN" dirty="0"/>
              <a:t>2.0</a:t>
            </a:r>
            <a:r>
              <a:rPr dirty="0"/>
              <a:t>).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7. Only </a:t>
            </a:r>
            <a:r>
              <a:rPr lang="en-IN" dirty="0"/>
              <a:t>62.</a:t>
            </a:r>
            <a:r>
              <a:rPr dirty="0"/>
              <a:t>61% of interactions are handled Within SLA.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Improve billing support through clearer invoices, FAQs, and self-service options.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Reduce negative sentiment by improving issue resolution and agent training.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Improve Web support, including faster escalation to human agents.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Investigate Chicago call center performance and provide targeted support.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Improve SLA compliance through better staffing, routing, and peak-demand planning.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rPr dirty="0"/>
              <a:t>Study successful practices from Los Angeles and apply them to lower-performing centers.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t>The analysis reveals significant opportunities to improve customer satisfaction and operational efficiency.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t>Main priorities: reducing negative sentiment, improving CSAT, enhancing billing support, strengthening digital channels, and increasing SLA performance.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t>The interactive Power BI dashboard enables ongoing monitoring and supports data-driven decision-making.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3498DB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Words>836</Words>
  <Application>Microsoft Office PowerPoint</Application>
  <PresentationFormat>Widescreen</PresentationFormat>
  <Paragraphs>111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 A</cp:lastModifiedBy>
  <cp:revision>8</cp:revision>
  <dcterms:created xsi:type="dcterms:W3CDTF">2013-01-27T09:14:16Z</dcterms:created>
  <dcterms:modified xsi:type="dcterms:W3CDTF">2026-08-29T07:43:35Z</dcterms:modified>
  <cp:category/>
</cp:coreProperties>
</file>